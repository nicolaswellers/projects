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36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DC01C-7F8C-7CFC-8F03-59864CE7F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9A0FA91-89ED-0375-9591-874A71292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001984-B5B1-C602-68B2-A9F3450D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CFA608-3333-9682-7F4C-B316E82C3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C7616F-6602-8614-0766-76557DA2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01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46C20-BADB-366C-B518-668F6E433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4D5BCD-A9AA-DBFC-69BA-EEA240FBC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8C68B1-E5A1-05A5-685A-C7CD5356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B70F8A-53A3-1360-1C2F-A1F34DA3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43A7C3-9FBA-9C63-4721-1398DC17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68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167E8-3C31-3116-6D64-5FAB9CBE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DCB48A-386F-DA08-0A60-D964D7A3B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1A7FA-283B-6A51-53AA-3DE887FF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849251-7086-9DE7-4F7F-BD81478B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845D0E-8982-4EB9-C003-24F421FE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79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410A0-041F-D71B-3BC1-358311B9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060BCEB-A281-E47C-63B0-E8B4C101A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D81818-BAF6-A660-17C0-59C6DCDE7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F0CD5A-FE9F-10DD-18B4-2E86266A8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818444-FB1D-54DF-29AB-C1ED9C1D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086FE1-0270-1319-8611-8CB0B1B11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05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684966-EE32-CC2A-1843-2D3110BAA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47724F-6775-C206-9A9D-EE0EB21C4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7E736B-4BD4-2486-1828-674403EE7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6ABBB35-C1A3-B937-0C99-6742DE5ED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F3F40D-9912-2616-1A94-C1784B178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362591-2ADE-C841-C864-15FF320B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F580FAA-6583-953B-ECE3-1DBD88DC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38D3641-F90B-AD0E-04A8-BA2D48E4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897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44BDA5-E732-2B43-F24B-0C3EB8F9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A52F24-3283-E3B1-02C9-07DA6A21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45B575-3FC2-10BD-FD43-AA5E2D00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C43DC9-FA79-D4CD-16F9-BC79E6FB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61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812BDA-42B6-2FCC-E888-5F47731B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961CC24-A7C0-729C-FF80-2960457C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A43754-85FB-AD52-E607-6E017489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63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DE990-7B97-C0F0-10B1-FF44116F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E86AC6-0716-76A0-E581-4C7F6A669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98DAB2-97A1-2920-2201-882979157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D83E2D-D499-9DD4-73F8-129582C4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4EF000-3737-AB0A-0ABB-0F9A43AD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2F3612-01D7-572C-FD10-5E591256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89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0AAB5-1009-6E2F-3407-592BB3751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9BA45E8-BF60-140E-0622-B43344B6C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1C209D-DFFD-095D-AB3D-F11AF5F3C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DA982F-5D4A-0C9F-036D-2C2E4E47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142E35-382A-F9F1-0AF5-000B95E8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6B86FC-010A-3E6D-4EC6-3CE852A6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819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B9BE6A-BE1D-B5F0-B50A-C6EBAB42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943424-C039-0600-ECBF-600EA1D19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645A15-6D90-BD1C-F4AF-3513BFEE6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89643B-BFE6-16B7-0240-61CBEA16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18E345-44E7-C27E-0DF9-EA4266087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75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0C87DD-92FE-79B4-677E-A7D1D7597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6F0453-0A01-8963-F7C6-CF8AEF090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9C9CE1-48B3-D463-B8F5-9AEE7AA1B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2CCE7D-0E3E-4321-2AF0-30C34286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86DC82-5872-D45C-1DAB-94610ECF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425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3DC75F4-C5D3-4882-6AFD-274399FF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FA9482-01A1-DC8E-818B-6DE0DA6D2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85566F-7B48-51EF-462D-186CEDAD7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F0211-46D8-4083-995E-35916ACA2227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87352C-E3A5-C6A2-84D5-7468C55DD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B75310-0190-2503-2615-A4AF405D5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3B2F7-E1F4-474F-8B28-3C09D53A41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56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6B5A08-22BF-4078-A78E-819FEFF81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Risk </a:t>
            </a:r>
            <a:r>
              <a:rPr lang="de-DE" dirty="0" err="1"/>
              <a:t>system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CBE47E-E39D-3A27-168A-C66B78783E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7249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DEEA3-790B-092C-1267-D1DDE4B0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Idea: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volatility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DD2C4B-804E-480C-4E0D-611C28009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Underlying </a:t>
            </a:r>
            <a:r>
              <a:rPr lang="de-DE" dirty="0" err="1"/>
              <a:t>theory</a:t>
            </a:r>
            <a:r>
              <a:rPr lang="de-DE" dirty="0"/>
              <a:t>: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determined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past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.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„</a:t>
            </a:r>
            <a:r>
              <a:rPr lang="de-DE" dirty="0" err="1"/>
              <a:t>true</a:t>
            </a:r>
            <a:r>
              <a:rPr lang="de-DE" dirty="0"/>
              <a:t>“ </a:t>
            </a:r>
            <a:r>
              <a:rPr lang="de-DE" dirty="0" err="1"/>
              <a:t>underlying</a:t>
            </a:r>
            <a:r>
              <a:rPr lang="de-DE" dirty="0"/>
              <a:t> </a:t>
            </a:r>
            <a:r>
              <a:rPr lang="de-DE" dirty="0" err="1"/>
              <a:t>relationship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constantly</a:t>
            </a:r>
            <a:r>
              <a:rPr lang="de-DE" dirty="0"/>
              <a:t> </a:t>
            </a:r>
            <a:r>
              <a:rPr lang="de-DE" dirty="0" err="1"/>
              <a:t>evolving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true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heteroskedacity</a:t>
            </a:r>
            <a:r>
              <a:rPr lang="de-DE" dirty="0"/>
              <a:t> and </a:t>
            </a:r>
            <a:r>
              <a:rPr lang="de-DE" dirty="0" err="1"/>
              <a:t>stationarity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u="sng" dirty="0"/>
              <a:t>GARCH </a:t>
            </a:r>
            <a:r>
              <a:rPr lang="de-DE" u="sng" dirty="0" err="1"/>
              <a:t>model</a:t>
            </a:r>
            <a:r>
              <a:rPr lang="de-DE" u="sng" dirty="0"/>
              <a:t> </a:t>
            </a:r>
            <a:r>
              <a:rPr lang="de-DE" u="sng" dirty="0" err="1"/>
              <a:t>family</a:t>
            </a:r>
            <a:r>
              <a:rPr lang="de-DE" dirty="0"/>
              <a:t>: </a:t>
            </a:r>
            <a:r>
              <a:rPr lang="de-DE" dirty="0" err="1"/>
              <a:t>takes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account</a:t>
            </a:r>
            <a:r>
              <a:rPr lang="de-DE" dirty="0"/>
              <a:t> </a:t>
            </a:r>
            <a:r>
              <a:rPr lang="de-DE" dirty="0" err="1"/>
              <a:t>recent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 </a:t>
            </a:r>
            <a:r>
              <a:rPr lang="de-DE" dirty="0" err="1"/>
              <a:t>shocks</a:t>
            </a:r>
            <a:r>
              <a:rPr lang="de-DE" dirty="0"/>
              <a:t>, </a:t>
            </a:r>
            <a:r>
              <a:rPr lang="de-DE" dirty="0" err="1"/>
              <a:t>past</a:t>
            </a:r>
            <a:r>
              <a:rPr lang="de-DE" dirty="0"/>
              <a:t> returns^2 and a residual. </a:t>
            </a:r>
            <a:r>
              <a:rPr lang="de-DE" dirty="0" err="1"/>
              <a:t>Fits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onto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. Individual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differ</a:t>
            </a:r>
            <a:r>
              <a:rPr lang="de-DE" dirty="0"/>
              <a:t> </a:t>
            </a:r>
            <a:r>
              <a:rPr lang="de-DE" dirty="0" err="1"/>
              <a:t>slightly</a:t>
            </a:r>
            <a:r>
              <a:rPr lang="de-DE" dirty="0"/>
              <a:t>. Intraday </a:t>
            </a:r>
            <a:r>
              <a:rPr lang="de-DE" dirty="0" err="1"/>
              <a:t>price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.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u="sng" dirty="0"/>
              <a:t>HAR </a:t>
            </a:r>
            <a:r>
              <a:rPr lang="de-DE" u="sng" dirty="0" err="1"/>
              <a:t>model</a:t>
            </a:r>
            <a:r>
              <a:rPr lang="de-DE" u="sng" dirty="0"/>
              <a:t> </a:t>
            </a:r>
            <a:r>
              <a:rPr lang="de-DE" u="sng" dirty="0" err="1"/>
              <a:t>family</a:t>
            </a:r>
            <a:r>
              <a:rPr lang="de-DE" dirty="0"/>
              <a:t>: an OLS </a:t>
            </a:r>
            <a:r>
              <a:rPr lang="de-DE" dirty="0" err="1"/>
              <a:t>regression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averages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past</a:t>
            </a:r>
            <a:r>
              <a:rPr lang="de-DE" dirty="0"/>
              <a:t> </a:t>
            </a:r>
            <a:r>
              <a:rPr lang="de-DE" dirty="0" err="1"/>
              <a:t>returns</a:t>
            </a:r>
            <a:r>
              <a:rPr lang="de-DE" dirty="0"/>
              <a:t> </a:t>
            </a:r>
            <a:r>
              <a:rPr lang="de-DE" dirty="0" err="1"/>
              <a:t>squared</a:t>
            </a:r>
            <a:r>
              <a:rPr lang="de-DE" dirty="0"/>
              <a:t>. </a:t>
            </a:r>
            <a:r>
              <a:rPr lang="de-DE" dirty="0" err="1"/>
              <a:t>Uses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day</a:t>
            </a:r>
            <a:r>
              <a:rPr lang="de-DE" dirty="0"/>
              <a:t>.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5012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2CFF9F-29D6-0E10-5126-3F0FEE6E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 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BAF95E-3597-0FD2-AAD6-4960D8C36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MSE = (1/n) * </a:t>
            </a:r>
            <a:r>
              <a:rPr lang="de-DE" dirty="0" err="1"/>
              <a:t>sum</a:t>
            </a:r>
            <a:r>
              <a:rPr lang="de-DE" dirty="0"/>
              <a:t>((</a:t>
            </a:r>
            <a:r>
              <a:rPr lang="de-DE" dirty="0" err="1"/>
              <a:t>forecasted</a:t>
            </a:r>
            <a:r>
              <a:rPr lang="de-DE" dirty="0"/>
              <a:t> </a:t>
            </a:r>
            <a:r>
              <a:rPr lang="de-DE" dirty="0" err="1"/>
              <a:t>variance</a:t>
            </a:r>
            <a:r>
              <a:rPr lang="de-DE" dirty="0"/>
              <a:t> - </a:t>
            </a:r>
            <a:r>
              <a:rPr lang="de-DE" dirty="0" err="1"/>
              <a:t>realised</a:t>
            </a:r>
            <a:r>
              <a:rPr lang="de-DE" dirty="0"/>
              <a:t> </a:t>
            </a:r>
            <a:r>
              <a:rPr lang="de-DE" dirty="0" err="1"/>
              <a:t>variance</a:t>
            </a:r>
            <a:r>
              <a:rPr lang="de-DE" dirty="0"/>
              <a:t>)^2)</a:t>
            </a:r>
          </a:p>
          <a:p>
            <a:r>
              <a:rPr lang="de-DE" dirty="0"/>
              <a:t>QLIKE = log(</a:t>
            </a:r>
            <a:r>
              <a:rPr lang="de-DE" dirty="0" err="1"/>
              <a:t>forecasted</a:t>
            </a:r>
            <a:r>
              <a:rPr lang="de-DE" dirty="0"/>
              <a:t> </a:t>
            </a:r>
            <a:r>
              <a:rPr lang="de-DE" dirty="0" err="1"/>
              <a:t>variance</a:t>
            </a:r>
            <a:r>
              <a:rPr lang="de-DE" dirty="0"/>
              <a:t>) + (</a:t>
            </a:r>
            <a:r>
              <a:rPr lang="de-DE" dirty="0" err="1"/>
              <a:t>realised</a:t>
            </a:r>
            <a:r>
              <a:rPr lang="de-DE" dirty="0"/>
              <a:t> </a:t>
            </a:r>
            <a:r>
              <a:rPr lang="de-DE" dirty="0" err="1"/>
              <a:t>variance</a:t>
            </a:r>
            <a:r>
              <a:rPr lang="de-DE" dirty="0"/>
              <a:t> / </a:t>
            </a:r>
            <a:r>
              <a:rPr lang="de-DE" dirty="0" err="1"/>
              <a:t>forecasted</a:t>
            </a:r>
            <a:r>
              <a:rPr lang="de-DE" dirty="0"/>
              <a:t> </a:t>
            </a:r>
            <a:r>
              <a:rPr lang="de-DE" dirty="0" err="1"/>
              <a:t>variance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Find </a:t>
            </a:r>
            <a:r>
              <a:rPr lang="de-DE" dirty="0" err="1"/>
              <a:t>smallest</a:t>
            </a:r>
            <a:r>
              <a:rPr lang="de-DE" dirty="0"/>
              <a:t> </a:t>
            </a:r>
            <a:r>
              <a:rPr lang="de-DE" dirty="0" err="1"/>
              <a:t>levels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true</a:t>
            </a:r>
            <a:r>
              <a:rPr lang="de-DE" dirty="0"/>
              <a:t> </a:t>
            </a:r>
            <a:r>
              <a:rPr lang="de-DE" dirty="0" err="1"/>
              <a:t>volatility</a:t>
            </a:r>
            <a:r>
              <a:rPr lang="de-DE" dirty="0"/>
              <a:t>,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best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60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49B62-0964-5553-9BB6-6C181736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S&amp;P 500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099A12C-6812-C791-D9DB-9622D4718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626" y="1690688"/>
            <a:ext cx="80487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1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B8B61-20A3-2625-8815-B781B337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Idea: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breaks</a:t>
            </a:r>
            <a:r>
              <a:rPr lang="de-DE" dirty="0"/>
              <a:t> down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0CB5B9-5668-AF43-5A8E-FED66125A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, I </a:t>
            </a:r>
            <a:r>
              <a:rPr lang="de-DE" dirty="0" err="1"/>
              <a:t>developed</a:t>
            </a:r>
            <a:r>
              <a:rPr lang="de-DE" dirty="0"/>
              <a:t> 3 different </a:t>
            </a:r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filters</a:t>
            </a:r>
            <a:endParaRPr lang="de-DE" dirty="0"/>
          </a:p>
          <a:p>
            <a:r>
              <a:rPr lang="de-DE" dirty="0"/>
              <a:t>Rolling </a:t>
            </a:r>
            <a:r>
              <a:rPr lang="de-DE" dirty="0" err="1"/>
              <a:t>correlation</a:t>
            </a:r>
            <a:r>
              <a:rPr lang="de-DE" dirty="0"/>
              <a:t> – </a:t>
            </a:r>
            <a:r>
              <a:rPr lang="de-DE" dirty="0" err="1"/>
              <a:t>raw</a:t>
            </a:r>
            <a:r>
              <a:rPr lang="de-DE" dirty="0"/>
              <a:t> </a:t>
            </a:r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stocks</a:t>
            </a:r>
            <a:endParaRPr lang="de-DE" dirty="0"/>
          </a:p>
          <a:p>
            <a:r>
              <a:rPr lang="de-DE" dirty="0"/>
              <a:t>Partial </a:t>
            </a:r>
            <a:r>
              <a:rPr lang="de-DE" dirty="0" err="1"/>
              <a:t>correlation</a:t>
            </a:r>
            <a:r>
              <a:rPr lang="de-DE" dirty="0"/>
              <a:t> – </a:t>
            </a:r>
            <a:r>
              <a:rPr lang="de-DE" dirty="0" err="1"/>
              <a:t>correlation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2 </a:t>
            </a:r>
            <a:r>
              <a:rPr lang="de-DE" dirty="0" err="1"/>
              <a:t>stocks</a:t>
            </a:r>
            <a:r>
              <a:rPr lang="de-DE" dirty="0"/>
              <a:t>, </a:t>
            </a:r>
            <a:r>
              <a:rPr lang="de-DE" dirty="0" err="1"/>
              <a:t>controlling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. </a:t>
            </a:r>
          </a:p>
          <a:p>
            <a:r>
              <a:rPr lang="de-DE" dirty="0"/>
              <a:t>Dynamic </a:t>
            </a:r>
            <a:r>
              <a:rPr lang="de-DE" dirty="0" err="1"/>
              <a:t>conditional</a:t>
            </a:r>
            <a:r>
              <a:rPr lang="de-DE" dirty="0"/>
              <a:t> </a:t>
            </a:r>
            <a:r>
              <a:rPr lang="de-DE" dirty="0" err="1"/>
              <a:t>correlation</a:t>
            </a:r>
            <a:r>
              <a:rPr lang="de-DE" dirty="0"/>
              <a:t> – </a:t>
            </a:r>
            <a:r>
              <a:rPr lang="de-DE" dirty="0" err="1"/>
              <a:t>needs</a:t>
            </a:r>
            <a:r>
              <a:rPr lang="de-DE" dirty="0"/>
              <a:t> GARCH </a:t>
            </a:r>
            <a:r>
              <a:rPr lang="de-DE" dirty="0" err="1"/>
              <a:t>as</a:t>
            </a:r>
            <a:r>
              <a:rPr lang="de-DE" dirty="0"/>
              <a:t> an </a:t>
            </a:r>
            <a:r>
              <a:rPr lang="de-DE" dirty="0" err="1"/>
              <a:t>input</a:t>
            </a:r>
            <a:r>
              <a:rPr lang="de-DE" dirty="0"/>
              <a:t>, and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measuring</a:t>
            </a:r>
            <a:r>
              <a:rPr lang="de-DE" dirty="0"/>
              <a:t> </a:t>
            </a:r>
            <a:r>
              <a:rPr lang="de-DE" dirty="0" err="1"/>
              <a:t>intercorrelation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portfolio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787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E1F1FB-A5CF-20C1-A6A4-6305D991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DCC GARCH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D02A780-B9B3-98D8-95C5-FDED792DA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06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2D4542-6992-B44B-CD32-07B21E3E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Rolling </a:t>
            </a:r>
            <a:r>
              <a:rPr lang="de-DE" dirty="0" err="1"/>
              <a:t>correlation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6B2F118-777F-9B92-AD2C-52A869777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33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04B7C-7F3B-7751-1A24-3EEEC2BD3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68" y="222002"/>
            <a:ext cx="10515600" cy="1325563"/>
          </a:xfrm>
        </p:spPr>
        <p:txBody>
          <a:bodyPr/>
          <a:lstStyle/>
          <a:p>
            <a:r>
              <a:rPr lang="de-DE" dirty="0"/>
              <a:t>Rolling </a:t>
            </a:r>
            <a:r>
              <a:rPr lang="de-DE" dirty="0" err="1"/>
              <a:t>vs</a:t>
            </a:r>
            <a:r>
              <a:rPr lang="de-DE" dirty="0"/>
              <a:t> DCC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04B45E4-E915-DE8B-BF93-D21F26CCA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465" y="154835"/>
            <a:ext cx="5127000" cy="614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07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DBCCE-B4C7-2FDF-F72E-D0F0918A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Idea: </a:t>
            </a:r>
            <a:r>
              <a:rPr lang="de-DE" dirty="0" err="1"/>
              <a:t>notice</a:t>
            </a:r>
            <a:r>
              <a:rPr lang="de-DE" dirty="0"/>
              <a:t> </a:t>
            </a:r>
            <a:r>
              <a:rPr lang="de-DE" dirty="0" err="1"/>
              <a:t>credit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and </a:t>
            </a:r>
            <a:r>
              <a:rPr lang="de-DE" dirty="0" err="1"/>
              <a:t>liquidity</a:t>
            </a:r>
            <a:r>
              <a:rPr lang="de-DE" dirty="0"/>
              <a:t> </a:t>
            </a:r>
            <a:r>
              <a:rPr lang="de-DE" dirty="0" err="1"/>
              <a:t>issues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82BAF64-93F3-3028-8F45-53B2BE5EF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974" y="214051"/>
            <a:ext cx="4797957" cy="581542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4EFB7C3-4133-1F5A-777D-20D6D2EF0F82}"/>
              </a:ext>
            </a:extLst>
          </p:cNvPr>
          <p:cNvSpPr txBox="1"/>
          <p:nvPr/>
        </p:nvSpPr>
        <p:spPr>
          <a:xfrm>
            <a:off x="1017767" y="2258170"/>
            <a:ext cx="36496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Liquidity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, </a:t>
            </a:r>
            <a:r>
              <a:rPr lang="de-DE" dirty="0" err="1"/>
              <a:t>shock</a:t>
            </a:r>
            <a:r>
              <a:rPr lang="de-DE" dirty="0"/>
              <a:t>, and </a:t>
            </a:r>
            <a:r>
              <a:rPr lang="de-DE" dirty="0" err="1"/>
              <a:t>acceleration</a:t>
            </a:r>
            <a:r>
              <a:rPr lang="de-DE" dirty="0"/>
              <a:t>. (Volume S&amp;P </a:t>
            </a:r>
            <a:r>
              <a:rPr lang="de-DE" dirty="0" err="1"/>
              <a:t>traded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 err="1"/>
              <a:t>Credit</a:t>
            </a:r>
            <a:r>
              <a:rPr lang="de-DE" dirty="0"/>
              <a:t> </a:t>
            </a:r>
            <a:r>
              <a:rPr lang="de-DE" dirty="0" err="1"/>
              <a:t>spread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, </a:t>
            </a:r>
            <a:r>
              <a:rPr lang="de-DE" dirty="0" err="1"/>
              <a:t>shock</a:t>
            </a:r>
            <a:r>
              <a:rPr lang="de-DE" dirty="0"/>
              <a:t>, </a:t>
            </a:r>
            <a:r>
              <a:rPr lang="de-DE" dirty="0" err="1"/>
              <a:t>acceleration</a:t>
            </a:r>
            <a:r>
              <a:rPr lang="de-DE" dirty="0"/>
              <a:t>(ICE </a:t>
            </a:r>
            <a:r>
              <a:rPr lang="de-DE" dirty="0" err="1"/>
              <a:t>BofA</a:t>
            </a:r>
            <a:r>
              <a:rPr lang="de-DE" dirty="0"/>
              <a:t> HY OAS </a:t>
            </a:r>
            <a:r>
              <a:rPr lang="de-DE" dirty="0" err="1"/>
              <a:t>from</a:t>
            </a:r>
            <a:r>
              <a:rPr lang="de-DE" dirty="0"/>
              <a:t> FRED (BAMLH0A0HYM2)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423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163E02-EBC8-63E8-2555-1A2A717B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Idea: </a:t>
            </a:r>
            <a:r>
              <a:rPr lang="de-DE" dirty="0" err="1"/>
              <a:t>predict</a:t>
            </a:r>
            <a:r>
              <a:rPr lang="de-DE" dirty="0"/>
              <a:t> and </a:t>
            </a:r>
            <a:r>
              <a:rPr lang="de-DE" dirty="0" err="1"/>
              <a:t>detect</a:t>
            </a:r>
            <a:r>
              <a:rPr lang="de-DE" dirty="0"/>
              <a:t> </a:t>
            </a:r>
            <a:r>
              <a:rPr lang="de-DE" dirty="0" err="1"/>
              <a:t>trends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554893-A4DC-8A00-208E-E070F31E7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Kalman Filters, </a:t>
            </a:r>
            <a:r>
              <a:rPr lang="de-DE" dirty="0" err="1"/>
              <a:t>particle</a:t>
            </a:r>
            <a:r>
              <a:rPr lang="de-DE" dirty="0"/>
              <a:t> </a:t>
            </a:r>
            <a:r>
              <a:rPr lang="de-DE" dirty="0" err="1"/>
              <a:t>filters</a:t>
            </a:r>
            <a:r>
              <a:rPr lang="de-DE" dirty="0"/>
              <a:t>, </a:t>
            </a:r>
            <a:r>
              <a:rPr lang="de-DE" dirty="0" err="1"/>
              <a:t>benchmarks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 SMA. The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Hodrick Prescott </a:t>
            </a:r>
            <a:r>
              <a:rPr lang="de-DE" dirty="0" err="1"/>
              <a:t>filter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207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F8E76-E5C7-DD70-6AC5-8C2F9F6C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Kalman 2D – </a:t>
            </a:r>
            <a:r>
              <a:rPr lang="de-DE" dirty="0" err="1"/>
              <a:t>simplest</a:t>
            </a:r>
            <a:r>
              <a:rPr lang="de-DE" dirty="0"/>
              <a:t> </a:t>
            </a:r>
            <a:r>
              <a:rPr lang="de-DE" dirty="0" err="1"/>
              <a:t>version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B743B30-96DF-F7E4-6DF9-7C626EE2C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418" y="1825625"/>
            <a:ext cx="87791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70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E9EC6-278B-2516-A0E2-E8C99118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Unscented</a:t>
            </a:r>
            <a:r>
              <a:rPr lang="de-DE" dirty="0"/>
              <a:t> Kalman Filter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DDF1D16-1411-497A-1D91-240EFF5CA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418" y="1825625"/>
            <a:ext cx="87791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38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E8B4EA-9701-1220-8434-2965E0F7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Rolling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all </a:t>
            </a:r>
            <a:r>
              <a:rPr lang="de-DE" dirty="0" err="1"/>
              <a:t>models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25DB47F-B2A0-B77F-5B4B-731D099FC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4390"/>
            <a:ext cx="10515600" cy="417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96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57C9E-A698-0388-9665-E7FA6D89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HP Truth – </a:t>
            </a: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overshooting</a:t>
            </a:r>
            <a:r>
              <a:rPr lang="de-DE" dirty="0"/>
              <a:t>,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undershooting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187031D-61FB-F91D-70FB-4FD61CEA0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677" y="1825625"/>
            <a:ext cx="86366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86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1D0A07-BCF4-A39E-910A-01A5B705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Ideas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tested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26042D-CC51-92F7-445D-43C2276DB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breaks</a:t>
            </a:r>
            <a:r>
              <a:rPr lang="de-DE" dirty="0"/>
              <a:t>: BCPD; CUSUM</a:t>
            </a:r>
          </a:p>
          <a:p>
            <a:r>
              <a:rPr lang="de-DE" dirty="0"/>
              <a:t>Latent Regime: HMM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9662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978A9-274E-F9A0-96CE-CF918261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a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like?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63B7F3A-068E-A67E-0C77-5A8A74920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929" y="1825625"/>
            <a:ext cx="52001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52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F9FDED-EFB0-31EB-B732-1808C0DA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DCC fit?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EA5742-8FDB-8052-9533-C35094294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Portfolio </a:t>
            </a:r>
            <a:r>
              <a:rPr lang="de-DE" dirty="0" err="1"/>
              <a:t>analytics</a:t>
            </a:r>
            <a:r>
              <a:rPr lang="de-DE" dirty="0"/>
              <a:t>. DCC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predictive</a:t>
            </a:r>
            <a:r>
              <a:rPr lang="de-DE" dirty="0"/>
              <a:t> power, but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at </a:t>
            </a:r>
            <a:r>
              <a:rPr lang="de-DE" dirty="0" err="1"/>
              <a:t>managing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positions</a:t>
            </a:r>
            <a:r>
              <a:rPr lang="de-DE" dirty="0"/>
              <a:t> and </a:t>
            </a:r>
            <a:r>
              <a:rPr lang="de-DE" dirty="0" err="1"/>
              <a:t>risk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42670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</Words>
  <Application>Microsoft Office PowerPoint</Application>
  <PresentationFormat>Breitbild</PresentationFormat>
  <Paragraphs>38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</vt:lpstr>
      <vt:lpstr>Risk system</vt:lpstr>
      <vt:lpstr>Idea: what if we could predict volatility</vt:lpstr>
      <vt:lpstr>How do you evaluate the models</vt:lpstr>
      <vt:lpstr>S&amp;P 500</vt:lpstr>
      <vt:lpstr>Idea: see when correlation breaks down</vt:lpstr>
      <vt:lpstr>DCC GARCH</vt:lpstr>
      <vt:lpstr>Rolling correlation</vt:lpstr>
      <vt:lpstr>Rolling vs DCC</vt:lpstr>
      <vt:lpstr>Idea: notice credit  and liquidity issues</vt:lpstr>
      <vt:lpstr>Idea: predict and detect trends</vt:lpstr>
      <vt:lpstr>Kalman 2D – simplest version</vt:lpstr>
      <vt:lpstr>Unscented Kalman Filter</vt:lpstr>
      <vt:lpstr>Rolling error of all models</vt:lpstr>
      <vt:lpstr>HP Truth – green overshooting, red undershooting</vt:lpstr>
      <vt:lpstr>Ideas to be tested</vt:lpstr>
      <vt:lpstr>What would a complete system look like?</vt:lpstr>
      <vt:lpstr>Where would DCC fit?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Wellers</dc:creator>
  <cp:lastModifiedBy>Nicolas Wellers</cp:lastModifiedBy>
  <cp:revision>12</cp:revision>
  <dcterms:created xsi:type="dcterms:W3CDTF">2026-06-03T13:26:12Z</dcterms:created>
  <dcterms:modified xsi:type="dcterms:W3CDTF">2026-06-03T13:48:08Z</dcterms:modified>
</cp:coreProperties>
</file>